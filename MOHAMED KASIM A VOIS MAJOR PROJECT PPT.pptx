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397966" y="3638947"/>
            <a:ext cx="5840965" cy="861497"/>
          </a:xfrm>
        </p:spPr>
        <p:txBody>
          <a:bodyPr vert="horz" lIns="91440" tIns="45720" rIns="91440" bIns="45720" rtlCol="0" anchor="t">
            <a:normAutofit fontScale="92500"/>
          </a:bodyPr>
          <a:lstStyle/>
          <a:p>
            <a:pPr algn="ctr"/>
            <a:r>
              <a:rPr lang="en-US" b="0" dirty="0">
                <a:solidFill>
                  <a:schemeClr val="tx1"/>
                </a:solidFill>
                <a:latin typeface="Times New Roman" panose="02020603050405020304" pitchFamily="18" charset="0"/>
                <a:cs typeface="Times New Roman" panose="02020603050405020304" pitchFamily="18" charset="0"/>
              </a:rPr>
              <a:t>Student </a:t>
            </a:r>
            <a:r>
              <a:rPr lang="en-US" b="0" dirty="0" err="1">
                <a:solidFill>
                  <a:schemeClr val="tx1"/>
                </a:solidFill>
                <a:latin typeface="Times New Roman" panose="02020603050405020304" pitchFamily="18" charset="0"/>
                <a:cs typeface="Times New Roman" panose="02020603050405020304" pitchFamily="18" charset="0"/>
              </a:rPr>
              <a:t>Name:MOHAMED</a:t>
            </a:r>
            <a:r>
              <a:rPr lang="en-US" b="0" dirty="0">
                <a:solidFill>
                  <a:schemeClr val="tx1"/>
                </a:solidFill>
                <a:latin typeface="Times New Roman" panose="02020603050405020304" pitchFamily="18" charset="0"/>
                <a:cs typeface="Times New Roman" panose="02020603050405020304" pitchFamily="18" charset="0"/>
              </a:rPr>
              <a:t> KASIM A </a:t>
            </a:r>
            <a:endParaRPr lang="en-IN" b="0" dirty="0">
              <a:solidFill>
                <a:schemeClr val="tx1"/>
              </a:solidFill>
              <a:latin typeface="Times New Roman" panose="02020603050405020304" pitchFamily="18" charset="0"/>
              <a:cs typeface="Times New Roman" panose="02020603050405020304" pitchFamily="18" charset="0"/>
            </a:endParaRPr>
          </a:p>
          <a:p>
            <a:pPr algn="ctr"/>
            <a:r>
              <a:rPr lang="en-US" b="0" dirty="0">
                <a:solidFill>
                  <a:schemeClr val="tx1"/>
                </a:solidFill>
              </a:rPr>
              <a:t>   </a:t>
            </a:r>
            <a:r>
              <a:rPr lang="en-US" b="0" dirty="0">
                <a:solidFill>
                  <a:schemeClr val="tx1"/>
                </a:solidFill>
                <a:latin typeface="Times New Roman" panose="02020603050405020304" pitchFamily="18" charset="0"/>
                <a:cs typeface="Times New Roman" panose="02020603050405020304" pitchFamily="18" charset="0"/>
              </a:rPr>
              <a:t>College Name: IFET COLLEGE OF ENGINEERING</a:t>
            </a:r>
            <a:endParaRPr lang="en-IN" b="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687946" cy="743448"/>
          </a:xfrm>
        </p:spPr>
        <p:txBody>
          <a:bodyPr>
            <a:normAutofit/>
          </a:bodyPr>
          <a:lstStyle/>
          <a:p>
            <a:r>
              <a:rPr lang="en-GB" sz="3200" dirty="0">
                <a:latin typeface="Times New Roman" panose="02020603050405020304" pitchFamily="18" charset="0"/>
                <a:cs typeface="Times New Roman" panose="02020603050405020304" pitchFamily="18" charset="0"/>
              </a:rPr>
              <a:t>Project Title -Seasonal Agriculture Performance Analysis </a:t>
            </a:r>
            <a:endParaRPr lang="en-IN" sz="3200"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2920481" y="4660727"/>
            <a:ext cx="557037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:STU6a315d07b88671781619975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436914"/>
            <a:ext cx="6431280" cy="5035006"/>
          </a:xfrm>
        </p:spPr>
        <p:txBody>
          <a:bodyPr vert="horz" lIns="91440" tIns="45720" rIns="91440" bIns="45720" rtlCol="0" anchor="t">
            <a:normAutofit fontScale="25000" lnSpcReduction="20000"/>
          </a:bodyPr>
          <a:lstStyle/>
          <a:p>
            <a:pPr marL="0" indent="0">
              <a:buNone/>
            </a:pPr>
            <a:endParaRPr lang="en-IN" sz="2800" b="1" dirty="0"/>
          </a:p>
          <a:p>
            <a:pPr>
              <a:lnSpc>
                <a:spcPct val="220000"/>
              </a:lnSpc>
            </a:pPr>
            <a:r>
              <a:rPr lang="en-IN" sz="5200" b="1" dirty="0">
                <a:latin typeface="Times New Roman" panose="02020603050405020304" pitchFamily="18" charset="0"/>
                <a:cs typeface="Times New Roman" panose="02020603050405020304" pitchFamily="18" charset="0"/>
              </a:rPr>
              <a:t>Agricultural performance is influenced by seasonal variations in environmental conditions, farming practices, resource availability, and market conditions. As a result, crop production, resource usage, and economic performance may vary across different seasons.</a:t>
            </a:r>
          </a:p>
          <a:p>
            <a:pPr>
              <a:lnSpc>
                <a:spcPct val="220000"/>
              </a:lnSpc>
            </a:pPr>
            <a:r>
              <a:rPr lang="en-IN" sz="5200" b="1" dirty="0">
                <a:latin typeface="Times New Roman" panose="02020603050405020304" pitchFamily="18" charset="0"/>
                <a:cs typeface="Times New Roman" panose="02020603050405020304" pitchFamily="18" charset="0"/>
              </a:rPr>
              <a:t>However, raw agricultural data does not clearly reveal how agricultural performance changes between seasons or what meaningful patterns and relationships exist.</a:t>
            </a:r>
          </a:p>
          <a:p>
            <a:pPr>
              <a:lnSpc>
                <a:spcPct val="220000"/>
              </a:lnSpc>
            </a:pPr>
            <a:r>
              <a:rPr lang="en-IN" sz="5200" b="1" dirty="0">
                <a:latin typeface="Times New Roman" panose="02020603050405020304" pitchFamily="18" charset="0"/>
                <a:cs typeface="Times New Roman" panose="02020603050405020304" pitchFamily="18" charset="0"/>
              </a:rPr>
              <a:t>Therefore, this project aims to </a:t>
            </a:r>
            <a:r>
              <a:rPr lang="en-IN" sz="5200" b="1" dirty="0" err="1">
                <a:latin typeface="Times New Roman" panose="02020603050405020304" pitchFamily="18" charset="0"/>
                <a:cs typeface="Times New Roman" panose="02020603050405020304" pitchFamily="18" charset="0"/>
              </a:rPr>
              <a:t>analyze</a:t>
            </a:r>
            <a:r>
              <a:rPr lang="en-IN" sz="5200" b="1" dirty="0">
                <a:latin typeface="Times New Roman" panose="02020603050405020304" pitchFamily="18" charset="0"/>
                <a:cs typeface="Times New Roman" panose="02020603050405020304" pitchFamily="18" charset="0"/>
              </a:rPr>
              <a:t> the agricultural dataset to identify seasonal patterns, trends, relationships, and variations in agricultural performance and provide evidence-based insights for better seasonal agricultural planning.</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413327"/>
            <a:ext cx="6276109" cy="5772869"/>
          </a:xfrm>
        </p:spPr>
        <p:txBody>
          <a:bodyPr>
            <a:noAutofit/>
          </a:bodyPr>
          <a:lstStyle/>
          <a:p>
            <a:pPr>
              <a:lnSpc>
                <a:spcPct val="150000"/>
              </a:lnSpc>
            </a:pPr>
            <a:r>
              <a:rPr lang="en-GB" dirty="0">
                <a:latin typeface="Times New Roman" panose="02020603050405020304" pitchFamily="18" charset="0"/>
                <a:cs typeface="Times New Roman" panose="02020603050405020304" pitchFamily="18" charset="0"/>
              </a:rPr>
              <a:t>Project Description</a:t>
            </a:r>
            <a:br>
              <a:rPr lang="en-GB" dirty="0">
                <a:latin typeface="Times New Roman" panose="02020603050405020304" pitchFamily="18" charset="0"/>
                <a:cs typeface="Times New Roman" panose="02020603050405020304" pitchFamily="18" charset="0"/>
              </a:rPr>
            </a:br>
            <a:br>
              <a:rPr lang="en-IN" sz="17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The project focuses on </a:t>
            </a:r>
            <a:r>
              <a:rPr lang="en-IN" sz="1400" dirty="0" err="1">
                <a:latin typeface="Times New Roman" panose="02020603050405020304" pitchFamily="18" charset="0"/>
                <a:cs typeface="Times New Roman" panose="02020603050405020304" pitchFamily="18" charset="0"/>
              </a:rPr>
              <a:t>analyzing</a:t>
            </a:r>
            <a:r>
              <a:rPr lang="en-IN" sz="1400" dirty="0">
                <a:latin typeface="Times New Roman" panose="02020603050405020304" pitchFamily="18" charset="0"/>
                <a:cs typeface="Times New Roman" panose="02020603050405020304" pitchFamily="18" charset="0"/>
              </a:rPr>
              <a:t> agricultural data collected across different seasons, geographical regions, and farming conditions. The analysis considers factors such as environmental conditions, farming practices, resource usage, crop production, and economic performance.</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The project involves data exploration, cleaning, statistical analysis, and visualization to understand how agricultural performance changes across seasons. Different seasonal groups are compared to identify important patterns, trends, relationships, variations, and unusual observations.</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The findings are interpreted to generate evidence-based insights and recommendations that can support better seasonal agricultural planning and decision-making.</a:t>
            </a:r>
            <a:br>
              <a:rPr lang="en-IN" sz="1400" dirty="0">
                <a:latin typeface="Times New Roman" panose="02020603050405020304" pitchFamily="18" charset="0"/>
                <a:cs typeface="Times New Roman" panose="02020603050405020304" pitchFamily="18" charset="0"/>
              </a:rPr>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562152"/>
            <a:ext cx="7904481" cy="3990023"/>
          </a:xfrm>
        </p:spPr>
        <p:txBody>
          <a:bodyPr>
            <a:normAutofit fontScale="62500" lnSpcReduction="20000"/>
          </a:bodyPr>
          <a:lstStyle/>
          <a:p>
            <a:pPr marL="0" indent="0">
              <a:buNone/>
            </a:pPr>
            <a:endParaRPr lang="en-IN" sz="3600" b="1" dirty="0"/>
          </a:p>
          <a:p>
            <a:pPr lvl="0"/>
            <a:r>
              <a:rPr lang="en-IN" sz="3600" b="1" dirty="0">
                <a:latin typeface="Times New Roman" panose="02020603050405020304" pitchFamily="18" charset="0"/>
                <a:cs typeface="Times New Roman" panose="02020603050405020304" pitchFamily="18" charset="0"/>
              </a:rPr>
              <a:t>Farmers</a:t>
            </a:r>
            <a:r>
              <a:rPr lang="en-IN" sz="3600" dirty="0">
                <a:latin typeface="Times New Roman" panose="02020603050405020304" pitchFamily="18" charset="0"/>
                <a:cs typeface="Times New Roman" panose="02020603050405020304" pitchFamily="18" charset="0"/>
              </a:rPr>
              <a:t> – To understand seasonal crop performance and resource usage.</a:t>
            </a:r>
          </a:p>
          <a:p>
            <a:pPr lvl="0"/>
            <a:r>
              <a:rPr lang="en-IN" sz="3600" b="1" dirty="0">
                <a:latin typeface="Times New Roman" panose="02020603050405020304" pitchFamily="18" charset="0"/>
                <a:cs typeface="Times New Roman" panose="02020603050405020304" pitchFamily="18" charset="0"/>
              </a:rPr>
              <a:t>Agricultural Planners</a:t>
            </a:r>
            <a:r>
              <a:rPr lang="en-IN" sz="3600" dirty="0">
                <a:latin typeface="Times New Roman" panose="02020603050405020304" pitchFamily="18" charset="0"/>
                <a:cs typeface="Times New Roman" panose="02020603050405020304" pitchFamily="18" charset="0"/>
              </a:rPr>
              <a:t> – To support evidence-based seasonal planning.</a:t>
            </a:r>
          </a:p>
          <a:p>
            <a:pPr lvl="0"/>
            <a:r>
              <a:rPr lang="en-IN" sz="3600" b="1" dirty="0">
                <a:latin typeface="Times New Roman" panose="02020603050405020304" pitchFamily="18" charset="0"/>
                <a:cs typeface="Times New Roman" panose="02020603050405020304" pitchFamily="18" charset="0"/>
              </a:rPr>
              <a:t>Agricultural Researchers</a:t>
            </a:r>
            <a:r>
              <a:rPr lang="en-IN" sz="3600" dirty="0">
                <a:latin typeface="Times New Roman" panose="02020603050405020304" pitchFamily="18" charset="0"/>
                <a:cs typeface="Times New Roman" panose="02020603050405020304" pitchFamily="18" charset="0"/>
              </a:rPr>
              <a:t> – To study seasonal trends and relationships.</a:t>
            </a:r>
          </a:p>
          <a:p>
            <a:pPr lvl="0"/>
            <a:r>
              <a:rPr lang="en-IN" sz="3600" b="1" dirty="0">
                <a:latin typeface="Times New Roman" panose="02020603050405020304" pitchFamily="18" charset="0"/>
                <a:cs typeface="Times New Roman" panose="02020603050405020304" pitchFamily="18" charset="0"/>
              </a:rPr>
              <a:t>Agricultural Organizations</a:t>
            </a:r>
            <a:r>
              <a:rPr lang="en-IN" sz="3600" dirty="0">
                <a:latin typeface="Times New Roman" panose="02020603050405020304" pitchFamily="18" charset="0"/>
                <a:cs typeface="Times New Roman" panose="02020603050405020304" pitchFamily="18" charset="0"/>
              </a:rPr>
              <a:t> – To evaluate agricultural performance across regions and seasons.</a:t>
            </a:r>
          </a:p>
          <a:p>
            <a:pPr lvl="0"/>
            <a:r>
              <a:rPr lang="en-IN" sz="3600" b="1" dirty="0">
                <a:latin typeface="Times New Roman" panose="02020603050405020304" pitchFamily="18" charset="0"/>
                <a:cs typeface="Times New Roman" panose="02020603050405020304" pitchFamily="18" charset="0"/>
              </a:rPr>
              <a:t>Policy Makers</a:t>
            </a:r>
            <a:r>
              <a:rPr lang="en-IN" sz="3600" dirty="0">
                <a:latin typeface="Times New Roman" panose="02020603050405020304" pitchFamily="18" charset="0"/>
                <a:cs typeface="Times New Roman" panose="02020603050405020304" pitchFamily="18" charset="0"/>
              </a:rPr>
              <a:t> – To use data-driven insights for agricultural planning and decision-making</a:t>
            </a:r>
            <a:r>
              <a:rPr lang="en-IN" sz="3600" dirty="0"/>
              <a:t>.</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latin typeface="Times New Roman" panose="02020603050405020304" pitchFamily="18" charset="0"/>
                <a:cs typeface="Times New Roman" panose="02020603050405020304" pitchFamily="18" charset="0"/>
              </a:rPr>
              <a:t>WHO ARE THE END USERS?</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914400" y="1043382"/>
            <a:ext cx="9027702" cy="5243448"/>
          </a:xfrm>
        </p:spPr>
        <p:txBody>
          <a:bodyPr/>
          <a:lstStyle/>
          <a:p>
            <a:pPr marL="0" indent="0">
              <a:buNone/>
            </a:pPr>
            <a:endParaRPr lang="en-IN" b="1" dirty="0"/>
          </a:p>
          <a:p>
            <a:pPr lvl="0"/>
            <a:r>
              <a:rPr lang="en-IN" b="1" dirty="0">
                <a:latin typeface="Times New Roman" panose="02020603050405020304" pitchFamily="18" charset="0"/>
                <a:cs typeface="Times New Roman" panose="02020603050405020304" pitchFamily="18" charset="0"/>
              </a:rPr>
              <a:t>Python</a:t>
            </a:r>
            <a:r>
              <a:rPr lang="en-IN" dirty="0">
                <a:latin typeface="Times New Roman" panose="02020603050405020304" pitchFamily="18" charset="0"/>
                <a:cs typeface="Times New Roman" panose="02020603050405020304" pitchFamily="18" charset="0"/>
              </a:rPr>
              <a:t> – Data analysis and processing</a:t>
            </a:r>
          </a:p>
          <a:p>
            <a:pPr lvl="0"/>
            <a:r>
              <a:rPr lang="en-IN" b="1" dirty="0">
                <a:latin typeface="Times New Roman" panose="02020603050405020304" pitchFamily="18" charset="0"/>
                <a:cs typeface="Times New Roman" panose="02020603050405020304" pitchFamily="18" charset="0"/>
              </a:rPr>
              <a:t>Pandas</a:t>
            </a:r>
            <a:r>
              <a:rPr lang="en-IN" dirty="0">
                <a:latin typeface="Times New Roman" panose="02020603050405020304" pitchFamily="18" charset="0"/>
                <a:cs typeface="Times New Roman" panose="02020603050405020304" pitchFamily="18" charset="0"/>
              </a:rPr>
              <a:t> – Data cleaning and manipulation</a:t>
            </a:r>
          </a:p>
          <a:p>
            <a:pPr lvl="0"/>
            <a:r>
              <a:rPr lang="en-IN" b="1" dirty="0">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 – Numerical analysis</a:t>
            </a:r>
          </a:p>
          <a:p>
            <a:pPr lvl="0"/>
            <a:r>
              <a:rPr lang="en-IN" b="1" dirty="0">
                <a:latin typeface="Times New Roman" panose="02020603050405020304" pitchFamily="18" charset="0"/>
                <a:cs typeface="Times New Roman" panose="02020603050405020304" pitchFamily="18" charset="0"/>
              </a:rPr>
              <a:t>Matplotlib</a:t>
            </a:r>
            <a:r>
              <a:rPr lang="en-IN" dirty="0">
                <a:latin typeface="Times New Roman" panose="02020603050405020304" pitchFamily="18" charset="0"/>
                <a:cs typeface="Times New Roman" panose="02020603050405020304" pitchFamily="18" charset="0"/>
              </a:rPr>
              <a:t> – Data visualization</a:t>
            </a:r>
          </a:p>
          <a:p>
            <a:pPr lvl="0"/>
            <a:r>
              <a:rPr lang="en-IN" b="1" dirty="0">
                <a:latin typeface="Times New Roman" panose="02020603050405020304" pitchFamily="18" charset="0"/>
                <a:cs typeface="Times New Roman" panose="02020603050405020304" pitchFamily="18" charset="0"/>
              </a:rPr>
              <a:t>Seaborn</a:t>
            </a:r>
            <a:r>
              <a:rPr lang="en-IN" dirty="0">
                <a:latin typeface="Times New Roman" panose="02020603050405020304" pitchFamily="18" charset="0"/>
                <a:cs typeface="Times New Roman" panose="02020603050405020304" pitchFamily="18" charset="0"/>
              </a:rPr>
              <a:t> – Statistical visualization</a:t>
            </a:r>
          </a:p>
          <a:p>
            <a:pPr lvl="0"/>
            <a:r>
              <a:rPr lang="en-IN" b="1" dirty="0">
                <a:latin typeface="Times New Roman" panose="02020603050405020304" pitchFamily="18" charset="0"/>
                <a:cs typeface="Times New Roman" panose="02020603050405020304" pitchFamily="18" charset="0"/>
              </a:rPr>
              <a:t>Jupyter Notebook</a:t>
            </a:r>
            <a:r>
              <a:rPr lang="en-IN" dirty="0">
                <a:latin typeface="Times New Roman" panose="02020603050405020304" pitchFamily="18" charset="0"/>
                <a:cs typeface="Times New Roman" panose="02020603050405020304" pitchFamily="18" charset="0"/>
              </a:rPr>
              <a:t> – Project development and documentation</a:t>
            </a:r>
          </a:p>
          <a:p>
            <a:pPr lvl="0"/>
            <a:r>
              <a:rPr lang="en-IN" b="1" dirty="0">
                <a:latin typeface="Times New Roman" panose="02020603050405020304" pitchFamily="18" charset="0"/>
                <a:cs typeface="Times New Roman" panose="02020603050405020304" pitchFamily="18" charset="0"/>
              </a:rPr>
              <a:t>CSV Dataset</a:t>
            </a:r>
            <a:r>
              <a:rPr lang="en-IN" dirty="0">
                <a:latin typeface="Times New Roman" panose="02020603050405020304" pitchFamily="18" charset="0"/>
                <a:cs typeface="Times New Roman" panose="02020603050405020304" pitchFamily="18" charset="0"/>
              </a:rPr>
              <a:t> – Agricultural data source</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789709" y="430567"/>
            <a:ext cx="5306291" cy="847817"/>
          </a:xfrm>
        </p:spPr>
        <p:txBody>
          <a:bodyPr>
            <a:normAutofit/>
          </a:bodyPr>
          <a:lstStyle/>
          <a:p>
            <a:r>
              <a:rPr lang="en-US" dirty="0">
                <a:latin typeface="Times New Roman" panose="02020603050405020304" pitchFamily="18" charset="0"/>
                <a:cs typeface="Times New Roman" panose="020206030504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fade">
                                      <p:cBhvr>
                                        <p:cTn id="49" dur="1000"/>
                                        <p:tgtEl>
                                          <p:spTgt spid="7">
                                            <p:txEl>
                                              <p:pRg st="6" end="6"/>
                                            </p:txEl>
                                          </p:spTgt>
                                        </p:tgtEl>
                                      </p:cBhvr>
                                    </p:animEffect>
                                    <p:anim calcmode="lin" valueType="num">
                                      <p:cBhvr>
                                        <p:cTn id="5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7" end="7"/>
                                            </p:txEl>
                                          </p:spTgt>
                                        </p:tgtEl>
                                        <p:attrNameLst>
                                          <p:attrName>style.visibility</p:attrName>
                                        </p:attrNameLst>
                                      </p:cBhvr>
                                      <p:to>
                                        <p:strVal val="visible"/>
                                      </p:to>
                                    </p:set>
                                    <p:animEffect transition="in" filter="fade">
                                      <p:cBhvr>
                                        <p:cTn id="56" dur="1000"/>
                                        <p:tgtEl>
                                          <p:spTgt spid="7">
                                            <p:txEl>
                                              <p:pRg st="7" end="7"/>
                                            </p:txEl>
                                          </p:spTgt>
                                        </p:tgtEl>
                                      </p:cBhvr>
                                    </p:animEffect>
                                    <p:anim calcmode="lin" valueType="num">
                                      <p:cBhvr>
                                        <p:cTn id="5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2"/>
            <a:ext cx="4275138" cy="1997307"/>
          </a:xfrm>
        </p:spPr>
        <p:txBody>
          <a:bodyPr vert="horz" lIns="91440" tIns="45720" rIns="91440" bIns="45720" rtlCol="0" anchor="t">
            <a:normAutofit/>
          </a:bodyPr>
          <a:lstStyle/>
          <a:p>
            <a:pPr marL="0" indent="0">
              <a:buNone/>
            </a:pPr>
            <a:endParaRPr lang="en-IN" dirty="0"/>
          </a:p>
        </p:txBody>
      </p:sp>
      <p:pic>
        <p:nvPicPr>
          <p:cNvPr id="3" name="Picture 2">
            <a:extLst>
              <a:ext uri="{FF2B5EF4-FFF2-40B4-BE49-F238E27FC236}">
                <a16:creationId xmlns:a16="http://schemas.microsoft.com/office/drawing/2014/main" id="{D94FC419-2BC8-9B84-4A77-E54EB155483D}"/>
              </a:ext>
            </a:extLst>
          </p:cNvPr>
          <p:cNvPicPr>
            <a:picLocks noChangeAspect="1"/>
          </p:cNvPicPr>
          <p:nvPr/>
        </p:nvPicPr>
        <p:blipFill>
          <a:blip r:embed="rId3"/>
          <a:stretch>
            <a:fillRect/>
          </a:stretch>
        </p:blipFill>
        <p:spPr>
          <a:xfrm>
            <a:off x="320982" y="1217324"/>
            <a:ext cx="10638181" cy="534668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FE17030E-0A90-B64E-7FE2-9C383533E06E}"/>
              </a:ext>
            </a:extLst>
          </p:cNvPr>
          <p:cNvPicPr>
            <a:picLocks noChangeAspect="1"/>
          </p:cNvPicPr>
          <p:nvPr/>
        </p:nvPicPr>
        <p:blipFill>
          <a:blip r:embed="rId3"/>
          <a:stretch>
            <a:fillRect/>
          </a:stretch>
        </p:blipFill>
        <p:spPr>
          <a:xfrm>
            <a:off x="144264" y="1275371"/>
            <a:ext cx="11903472" cy="512568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DAA4CD44-D107-03D3-CCDE-FE147B0693FB}"/>
              </a:ext>
            </a:extLst>
          </p:cNvPr>
          <p:cNvPicPr>
            <a:picLocks noChangeAspect="1"/>
          </p:cNvPicPr>
          <p:nvPr/>
        </p:nvPicPr>
        <p:blipFill>
          <a:blip r:embed="rId3"/>
          <a:stretch>
            <a:fillRect/>
          </a:stretch>
        </p:blipFill>
        <p:spPr>
          <a:xfrm>
            <a:off x="233264" y="1254143"/>
            <a:ext cx="11392679" cy="523326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2BF81488-3D7D-12E5-68BB-A4C4DBB9C7EB}"/>
              </a:ext>
            </a:extLst>
          </p:cNvPr>
          <p:cNvPicPr>
            <a:picLocks noChangeAspect="1"/>
          </p:cNvPicPr>
          <p:nvPr/>
        </p:nvPicPr>
        <p:blipFill>
          <a:blip r:embed="rId3"/>
          <a:stretch>
            <a:fillRect/>
          </a:stretch>
        </p:blipFill>
        <p:spPr>
          <a:xfrm>
            <a:off x="186612" y="1020871"/>
            <a:ext cx="11684406" cy="564408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C4713ADF-41AE-E657-18FF-98CE5132ECEC}"/>
              </a:ext>
            </a:extLst>
          </p:cNvPr>
          <p:cNvPicPr>
            <a:picLocks noChangeAspect="1"/>
          </p:cNvPicPr>
          <p:nvPr/>
        </p:nvPicPr>
        <p:blipFill>
          <a:blip r:embed="rId3"/>
          <a:stretch>
            <a:fillRect/>
          </a:stretch>
        </p:blipFill>
        <p:spPr>
          <a:xfrm>
            <a:off x="320982" y="1275370"/>
            <a:ext cx="11550036" cy="500924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1296644" y="444374"/>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AF0B725A-3272-4E29-FD2C-D7CA22208133}"/>
              </a:ext>
            </a:extLst>
          </p:cNvPr>
          <p:cNvSpPr txBox="1"/>
          <p:nvPr/>
        </p:nvSpPr>
        <p:spPr>
          <a:xfrm>
            <a:off x="1156996" y="1073943"/>
            <a:ext cx="6913984" cy="5078313"/>
          </a:xfrm>
          <a:prstGeom prst="rect">
            <a:avLst/>
          </a:prstGeom>
          <a:noFill/>
        </p:spPr>
        <p:txBody>
          <a:bodyPr wrap="square" rtlCol="0">
            <a:spAutoFit/>
          </a:bodyPr>
          <a:lstStyle/>
          <a:p>
            <a:endParaRPr lang="en-IN" b="1" dirty="0"/>
          </a:p>
          <a:p>
            <a:pPr lvl="0"/>
            <a:r>
              <a:rPr lang="en-IN" dirty="0">
                <a:latin typeface="Times New Roman" panose="02020603050405020304" pitchFamily="18" charset="0"/>
                <a:cs typeface="Times New Roman" panose="02020603050405020304" pitchFamily="18" charset="0"/>
              </a:rPr>
              <a:t>Develop a </a:t>
            </a:r>
            <a:r>
              <a:rPr lang="en-IN" b="1" dirty="0">
                <a:latin typeface="Times New Roman" panose="02020603050405020304" pitchFamily="18" charset="0"/>
                <a:cs typeface="Times New Roman" panose="02020603050405020304" pitchFamily="18" charset="0"/>
              </a:rPr>
              <a:t>real-time agricultural monitoring system</a:t>
            </a:r>
            <a:r>
              <a:rPr lang="en-IN" dirty="0">
                <a:latin typeface="Times New Roman" panose="02020603050405020304" pitchFamily="18" charset="0"/>
                <a:cs typeface="Times New Roman" panose="02020603050405020304" pitchFamily="18" charset="0"/>
              </a:rPr>
              <a:t> using live environmental and farm data.</a:t>
            </a:r>
          </a:p>
          <a:p>
            <a:pPr lvl="0"/>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Apply </a:t>
            </a:r>
            <a:r>
              <a:rPr lang="en-IN" b="1" dirty="0">
                <a:latin typeface="Times New Roman" panose="02020603050405020304" pitchFamily="18" charset="0"/>
                <a:cs typeface="Times New Roman" panose="02020603050405020304" pitchFamily="18" charset="0"/>
              </a:rPr>
              <a:t>machine learning models</a:t>
            </a:r>
            <a:r>
              <a:rPr lang="en-IN" dirty="0">
                <a:latin typeface="Times New Roman" panose="02020603050405020304" pitchFamily="18" charset="0"/>
                <a:cs typeface="Times New Roman" panose="02020603050405020304" pitchFamily="18" charset="0"/>
              </a:rPr>
              <a:t> to predict crop yield and agricultural performance.</a:t>
            </a:r>
          </a:p>
          <a:p>
            <a:pPr lvl="0"/>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Extend the analysis to provide </a:t>
            </a:r>
            <a:r>
              <a:rPr lang="en-IN" b="1" dirty="0">
                <a:latin typeface="Times New Roman" panose="02020603050405020304" pitchFamily="18" charset="0"/>
                <a:cs typeface="Times New Roman" panose="02020603050405020304" pitchFamily="18" charset="0"/>
              </a:rPr>
              <a:t>region-specific and season-specific recommendations</a:t>
            </a:r>
            <a:r>
              <a:rPr lang="en-IN" dirty="0">
                <a:latin typeface="Times New Roman" panose="02020603050405020304" pitchFamily="18" charset="0"/>
                <a:cs typeface="Times New Roman" panose="02020603050405020304" pitchFamily="18" charset="0"/>
              </a:rPr>
              <a:t>.</a:t>
            </a:r>
          </a:p>
          <a:p>
            <a:pPr lvl="0"/>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Integrate additional weather, soil, and market data for more accurate analysis.</a:t>
            </a:r>
          </a:p>
          <a:p>
            <a:pPr lvl="0"/>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Develop an interactive </a:t>
            </a:r>
            <a:r>
              <a:rPr lang="en-IN" b="1" dirty="0">
                <a:latin typeface="Times New Roman" panose="02020603050405020304" pitchFamily="18" charset="0"/>
                <a:cs typeface="Times New Roman" panose="02020603050405020304" pitchFamily="18" charset="0"/>
              </a:rPr>
              <a:t>dashboard</a:t>
            </a:r>
            <a:r>
              <a:rPr lang="en-IN" dirty="0">
                <a:latin typeface="Times New Roman" panose="02020603050405020304" pitchFamily="18" charset="0"/>
                <a:cs typeface="Times New Roman" panose="02020603050405020304" pitchFamily="18" charset="0"/>
              </a:rPr>
              <a:t> for farmers, researchers, and agricultural planners.</a:t>
            </a:r>
          </a:p>
          <a:p>
            <a:pPr lvl="0"/>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Use historical and real-time data to support </a:t>
            </a:r>
            <a:r>
              <a:rPr lang="en-IN" b="1" dirty="0">
                <a:latin typeface="Times New Roman" panose="02020603050405020304" pitchFamily="18" charset="0"/>
                <a:cs typeface="Times New Roman" panose="02020603050405020304" pitchFamily="18" charset="0"/>
              </a:rPr>
              <a:t>better seasonal agricultural planning and decision-making</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E0668A8-7405-5174-16A6-3236B8841988}"/>
              </a:ext>
            </a:extLst>
          </p:cNvPr>
          <p:cNvSpPr txBox="1"/>
          <p:nvPr/>
        </p:nvSpPr>
        <p:spPr>
          <a:xfrm>
            <a:off x="923731" y="2556587"/>
            <a:ext cx="9400715" cy="369332"/>
          </a:xfrm>
          <a:prstGeom prst="rect">
            <a:avLst/>
          </a:prstGeom>
          <a:noFill/>
        </p:spPr>
        <p:txBody>
          <a:bodyPr wrap="none" rtlCol="0">
            <a:spAutoFit/>
          </a:bodyPr>
          <a:lstStyle/>
          <a:p>
            <a:r>
              <a:rPr lang="en-IN"/>
              <a:t>https://github.com/kasimmohamed553/VOIS-Seasonal-Agriculture-Performance-Analysis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9" name="Object 8">
            <a:extLst>
              <a:ext uri="{FF2B5EF4-FFF2-40B4-BE49-F238E27FC236}">
                <a16:creationId xmlns:a16="http://schemas.microsoft.com/office/drawing/2014/main" id="{6A889772-ED10-66C4-0DE7-23B477D12F14}"/>
              </a:ext>
            </a:extLst>
          </p:cNvPr>
          <p:cNvGraphicFramePr>
            <a:graphicFrameLocks noChangeAspect="1"/>
          </p:cNvGraphicFramePr>
          <p:nvPr>
            <p:extLst>
              <p:ext uri="{D42A27DB-BD31-4B8C-83A1-F6EECF244321}">
                <p14:modId xmlns:p14="http://schemas.microsoft.com/office/powerpoint/2010/main" val="21373538"/>
              </p:ext>
            </p:extLst>
          </p:nvPr>
        </p:nvGraphicFramePr>
        <p:xfrm>
          <a:off x="1249070" y="1608410"/>
          <a:ext cx="8020050" cy="5667375"/>
        </p:xfrm>
        <a:graphic>
          <a:graphicData uri="http://schemas.openxmlformats.org/presentationml/2006/ole">
            <mc:AlternateContent xmlns:mc="http://schemas.openxmlformats.org/markup-compatibility/2006">
              <mc:Choice xmlns:v="urn:schemas-microsoft-com:vml" Requires="v">
                <p:oleObj name="Acrobat Document" r:id="rId3" imgW="8019926" imgH="5667337" progId="AcroExch.Document.11">
                  <p:embed/>
                </p:oleObj>
              </mc:Choice>
              <mc:Fallback>
                <p:oleObj name="Acrobat Document" r:id="rId3" imgW="8019926" imgH="5667337" progId="AcroExch.Document.11">
                  <p:embed/>
                  <p:pic>
                    <p:nvPicPr>
                      <p:cNvPr id="0" name=""/>
                      <p:cNvPicPr/>
                      <p:nvPr/>
                    </p:nvPicPr>
                    <p:blipFill>
                      <a:blip r:embed="rId4"/>
                      <a:stretch>
                        <a:fillRect/>
                      </a:stretch>
                    </p:blipFill>
                    <p:spPr>
                      <a:xfrm>
                        <a:off x="1249070" y="1608410"/>
                        <a:ext cx="8020050" cy="5667375"/>
                      </a:xfrm>
                      <a:prstGeom prst="rect">
                        <a:avLst/>
                      </a:prstGeom>
                    </p:spPr>
                  </p:pic>
                </p:oleObj>
              </mc:Fallback>
            </mc:AlternateContent>
          </a:graphicData>
        </a:graphic>
      </p:graphicFrame>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616</TotalTime>
  <Words>445</Words>
  <Application>Microsoft Office PowerPoint</Application>
  <PresentationFormat>Widescreen</PresentationFormat>
  <Paragraphs>51</Paragraphs>
  <Slides>14</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2" baseType="lpstr">
      <vt:lpstr>Arial</vt:lpstr>
      <vt:lpstr>Calibri</vt:lpstr>
      <vt:lpstr>Times New Roman</vt:lpstr>
      <vt:lpstr>Trebuchet MS</vt:lpstr>
      <vt:lpstr>Wingdings</vt:lpstr>
      <vt:lpstr>Wingdings 3</vt:lpstr>
      <vt:lpstr>Facet</vt:lpstr>
      <vt:lpstr>Adobe Acrobat Document</vt:lpstr>
      <vt:lpstr>Project Title -Seasonal Agriculture Performance Analysis </vt:lpstr>
      <vt:lpstr>PROBLEM  STATEMENT</vt:lpstr>
      <vt:lpstr>Project Description  The project focuses on analyzing agricultural data collected across different seasons, geographical regions, and farming conditions. The analysis considers factors such as environmental conditions, farming practices, resource usage, crop production, and economic performance. The project involves data exploration, cleaning, statistical analysis, and visualization to understand how agricultural performance changes across seasons. Different seasonal groups are compared to identify important patterns, trends, relationships, variations, and unusual observations. The findings are interpreted to generate evidence-based insights and recommendations that can support better seasonal agricultural planning and decision-making.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Mohamed Kasim</cp:lastModifiedBy>
  <cp:revision>98</cp:revision>
  <dcterms:created xsi:type="dcterms:W3CDTF">2021-07-11T13:13:15Z</dcterms:created>
  <dcterms:modified xsi:type="dcterms:W3CDTF">2026-09-03T15:23:52Z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